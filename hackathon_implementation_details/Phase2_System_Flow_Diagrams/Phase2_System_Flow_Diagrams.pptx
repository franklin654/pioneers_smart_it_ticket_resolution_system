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Phase 2: System Flow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AI Powered Intelligent Ticket Routing &amp; Resolution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Documentation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400" b="1">
                <a:solidFill>
                  <a:srgbClr val="1E2761"/>
                </a:solidFill>
              </a:defRPr>
            </a:pPr>
            <a:r>
              <a:t>Three Professional Diagrams: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1. Data Flow Diagram (DFD)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Shows how data moves through processes, data stores, and external entities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2. Sequence Diagram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Time-ordered interactions between 11 system components (&lt; 5 second total latency)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3. State Transition Diagram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12 ticket lifecycle states with confidence-based routing logic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Diagram - Level 0 (Context)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667EEA"/>
                </a:solidFill>
              </a:defRPr>
            </a:pPr>
            <a:r>
              <a:t>External Entities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ITSM Systems (ServiceNow, Jira) - Send ticket data via webhooks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IT Support Staff (L1/L2/L3) - Receive resolutions, provide feedback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Data Sources (Kaggle, Synthetic) - Provide training datasets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800"/>
              </a:spcAft>
              <a:defRPr sz="2000" b="1">
                <a:solidFill>
                  <a:srgbClr val="667EEA"/>
                </a:solidFill>
              </a:defRPr>
            </a:pPr>
            <a:r>
              <a:t>Data Flows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Ticket Data: ITSM → System (real-time webhooks)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Resolutions: System → Staff (auto-generated or suggested)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Feedback: Staff → System (accepted/rejected for active learning)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800"/>
              </a:spcAft>
              <a:defRPr sz="2000" b="1">
                <a:solidFill>
                  <a:srgbClr val="667EEA"/>
                </a:solidFill>
              </a:defRPr>
            </a:pPr>
            <a:r>
              <a:t>System Boundary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Single process representing entire AI Ticket Routing System</a:t>
            </a:r>
          </a:p>
          <a:p>
            <a:pPr lvl="1">
              <a:spcAft>
                <a:spcPts val="400"/>
              </a:spcAft>
              <a:defRPr sz="1400">
                <a:solidFill>
                  <a:srgbClr val="1A1A1A"/>
                </a:solidFill>
              </a:defRPr>
            </a:pPr>
            <a:r>
              <a:t>Handles classification, RAG retrieval, resolution generation, 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Flow Diagram - Level 1 (Processes)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67EEA"/>
                </a:solidFill>
              </a:defRPr>
            </a:pPr>
            <a:r>
              <a:t>8 Core Processes (P1-P8)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P1: Ingest &amp; Validate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200ms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P2: Generate Embeddings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50ms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P3: Classify Ticket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100ms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P4: RAG Retrieval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500ms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P5: Generate Resolution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3s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P6: Evaluate &amp; Route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&lt; 1s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P7: Collect Feedback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Real-time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P8: Update Knowledge Base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Latency: Async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67EEA"/>
                </a:solidFill>
              </a:defRPr>
            </a:pPr>
            <a:r>
              <a:t>8 Data Stores (D1-D8)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D1: Tickets DB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D2: Vector Store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pgvector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D3: Knowledge Base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D4: Feedback DB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D5: Classifications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D6: Resolutions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D7: Routing History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  <a:p>
            <a:pPr lvl="1">
              <a:spcAft>
                <a:spcPts val="200"/>
              </a:spcAft>
              <a:defRPr sz="1300" b="1">
                <a:solidFill>
                  <a:srgbClr val="1E2761"/>
                </a:solidFill>
              </a:defRPr>
            </a:pPr>
            <a:r>
              <a:t>D8: Agent Logs</a:t>
            </a:r>
          </a:p>
          <a:p>
            <a:pPr lvl="2">
              <a:spcAft>
                <a:spcPts val="600"/>
              </a:spcAft>
              <a:defRPr sz="1100" i="1">
                <a:solidFill>
                  <a:srgbClr val="6B7280"/>
                </a:solidFill>
              </a:defRPr>
            </a:pPr>
            <a:r>
              <a:t>PostgreSQL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Sequence Diagram - Complete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E2761"/>
                </a:solidFill>
              </a:defRPr>
            </a:pPr>
            <a:r>
              <a:t>11 System Components (Time-Ordered)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ITSM System → API Gateway (Kong) → Ingestion Service</a:t>
            </a:r>
          </a:p>
          <a:p>
            <a:pPr lvl="1"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PostgreSQL + pgvector → Embedding Service (all-MiniLM-L6-v2)</a:t>
            </a:r>
          </a:p>
          <a:p>
            <a:pPr lvl="1"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Classifier Agent → RAG Resolver Agent → Mistral-7B LLM</a:t>
            </a:r>
          </a:p>
          <a:p>
            <a:pPr lvl="1">
              <a:spcAft>
                <a:spcPts val="800"/>
              </a:spcAft>
              <a:defRPr sz="1400">
                <a:solidFill>
                  <a:srgbClr val="1A1A1A"/>
                </a:solidFill>
              </a:defRPr>
            </a:pPr>
            <a:r>
              <a:t>Evaluator Agent → Routing Logic → UserProxy/Human</a:t>
            </a:r>
          </a:p>
          <a:p>
            <a:pPr>
              <a:spcAft>
                <a:spcPts val="1200"/>
              </a:spcAft>
            </a:pPr>
          </a:p>
          <a:p>
            <a:pPr>
              <a:spcAft>
                <a:spcPts val="1000"/>
              </a:spcAft>
              <a:defRPr sz="2000" b="1">
                <a:solidFill>
                  <a:srgbClr val="667EEA"/>
                </a:solidFill>
              </a:defRPr>
            </a:pPr>
            <a:r>
              <a:t>Performance Targets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End-to-end latency: &lt; 5 seconds (4.97s target)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API response time: &lt; 440ms (synchronous)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Async agent workflow: &lt; 4.5s (classification → routing)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Mistral-7B inference: &lt; 3s (largest component)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Sequence Diagram - Routing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1E2761"/>
                </a:solidFill>
              </a:defRPr>
            </a:pPr>
            <a:r>
              <a:t>Three Confidence-Based Routing Paths</a:t>
            </a: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AUTO-RESOLVE (Target: ≥25%)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Condition: confidence &gt; 0.85 AND avg_score ≥ 3.5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Action: Present to UserProxy for confirmation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If confirmed: Close ticket automatically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If rejected: Assign to L1 for manual review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DEPARTMENT ROUTE (Target: 60-70%)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Condition: confidence ∈ [0.60, 0.85]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Action: Assign to L1/L2 with suggested resolution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Notification: Email + Slack to assigned agent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Expected: Agent follows suggested steps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ESCALATE (Target: 5-15%)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Condition: confidence &lt; 0.60 OR is_multi_domain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Action: Route to L2/L3 specialist with context package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Priority: Upgraded to HIGH</a:t>
            </a:r>
          </a:p>
          <a:p>
            <a:pPr lvl="1">
              <a:spcAft>
                <a:spcPts val="300"/>
              </a:spcAft>
              <a:defRPr sz="1200">
                <a:solidFill>
                  <a:srgbClr val="1A1A1A"/>
                </a:solidFill>
              </a:defRPr>
            </a:pPr>
            <a:r>
              <a:t>Accuracy target: ≥90% appropriate escalations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State Transition Diagram -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2761"/>
                </a:solidFill>
              </a:defRPr>
            </a:pPr>
            <a:r>
              <a:t>12 Ticket States + Transitions</a:t>
            </a: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Initial States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NEW → CLASSIFYING → CLASSIFIED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Processing States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RETRIEVING → GENERATING → EVALUATING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Routing States (Decision Point)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AUTO_RESOLVED (if conf &gt; 0.85)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ASSIGNED (if conf 0.60-0.85)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ESCALATED (if conf &lt; 0.60 or multi-domain)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Active States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IN_PROGRESS → RESOLVED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Final States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CLOSED (success) or REOPENED (rare, &lt;5%)</a:t>
            </a:r>
          </a:p>
          <a:p>
            <a:pPr>
              <a:spcAft>
                <a:spcPts val="800"/>
              </a:spcAft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State Transition -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2761"/>
                </a:solidFill>
              </a:defRPr>
            </a:pPr>
            <a:r>
              <a:t>Key Performance Indicators</a:t>
            </a: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State Duration Targets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CLASSIFYING state: &lt; 200ms average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GENERATING state: &lt; 3 seconds average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Total resolution time: &lt; 2 hours (NEW → CLOSED)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Routing Distribution Targets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AUTO_RESOLVED rate: ≥ 25% of all tickets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ASSIGNED rate: 60-70% of all tickets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ESCALATED rate: 5-15% of all tickets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600"/>
              </a:spcAft>
              <a:defRPr sz="1600" b="1">
                <a:solidFill>
                  <a:srgbClr val="667EEA"/>
                </a:solidFill>
              </a:defRPr>
            </a:pPr>
            <a:r>
              <a:t>Quality Metrics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Auto-resolve accuracy: ≥ 95% (accepted by users)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Escalation accuracy: ≥ 90% (deemed appropriate)</a:t>
            </a:r>
          </a:p>
          <a:p>
            <a:pPr lvl="1">
              <a:spcAft>
                <a:spcPts val="400"/>
              </a:spcAft>
              <a:defRPr sz="1300">
                <a:solidFill>
                  <a:srgbClr val="1A1A1A"/>
                </a:solidFill>
              </a:defRPr>
            </a:pPr>
            <a:r>
              <a:t>Reopen rate: &lt; 5% (previously closed tickets)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 - Complete System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2761"/>
                </a:solidFill>
              </a:defRPr>
            </a:pPr>
            <a:r>
              <a:t>Three Complementary Views</a:t>
            </a: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Data Flow Diagram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WHAT data moves WHERE between processes and data stores</a:t>
            </a: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Sequence Diagram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WHEN components interact and in WHAT ORDER (&lt; 5 sec total)</a:t>
            </a:r>
          </a:p>
          <a:p>
            <a:pPr>
              <a:spcAft>
                <a:spcPts val="600"/>
              </a:spcAft>
              <a:defRPr sz="1800" b="1">
                <a:solidFill>
                  <a:srgbClr val="667EEA"/>
                </a:solidFill>
              </a:defRPr>
            </a:pPr>
            <a:r>
              <a:t>State Transition Diagram</a:t>
            </a:r>
          </a:p>
          <a:p>
            <a:pPr lvl="1">
              <a:spcAft>
                <a:spcPts val="1200"/>
              </a:spcAft>
              <a:defRPr sz="1400">
                <a:solidFill>
                  <a:srgbClr val="1A1A1A"/>
                </a:solidFill>
              </a:defRPr>
            </a:pPr>
            <a:r>
              <a:t>HOW tickets change status over TIME (12 states)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800"/>
              </a:spcAft>
              <a:defRPr sz="1600" b="1">
                <a:solidFill>
                  <a:srgbClr val="1E2761"/>
                </a:solidFill>
              </a:defRPr>
            </a:pPr>
            <a:r>
              <a:t>Critical Paths Documented:</a:t>
            </a:r>
          </a:p>
          <a:p>
            <a:pPr lvl="1"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Happy Path (Auto-Resolve): NEW → ... → AUTO_RESOLVED → CLOSED</a:t>
            </a:r>
          </a:p>
          <a:p>
            <a:pPr lvl="1"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Standard Path (Dept Route): NEW → ... → ASSIGNED → IN_PROGRESS → RESOLVED → CLOSED</a:t>
            </a:r>
          </a:p>
          <a:p>
            <a:pPr lvl="1">
              <a:spcAft>
                <a:spcPts val="400"/>
              </a:spcAft>
              <a:defRPr sz="1200">
                <a:solidFill>
                  <a:srgbClr val="1A1A1A"/>
                </a:solidFill>
              </a:defRPr>
            </a:pPr>
            <a:r>
              <a:t>Complex Path (Escalation): NEW → ... → ESCALATED → IN_PROGRESS → RESOLVED → CLOSED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276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Access to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ADCFC"/>
                </a:solidFill>
              </a:defRPr>
            </a:pPr>
            <a:r>
              <a:t>PlantUML and Draw.io Files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